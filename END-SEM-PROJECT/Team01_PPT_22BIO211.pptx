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oppins Semi-Bold" charset="1" panose="00000700000000000000"/>
      <p:regular r:id="rId22"/>
    </p:embeddedFont>
    <p:embeddedFont>
      <p:font typeface="Poppins Bold" charset="1" panose="00000800000000000000"/>
      <p:regular r:id="rId23"/>
    </p:embeddedFont>
    <p:embeddedFont>
      <p:font typeface="Poppins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" r="0" b="-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0539" y="680236"/>
            <a:ext cx="12429970" cy="580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999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Deep Learning Based Prediction of Signal Peptides in Proteins Using Sequence and Physicochemical Feature Integration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865968" y="-720869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8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963327" y="2664107"/>
            <a:ext cx="12952708" cy="12952708"/>
            <a:chOff x="0" y="0"/>
            <a:chExt cx="17270277" cy="1727027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7270277" cy="17270277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17270277" cy="17270277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>
                  <a:alpha val="2980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sp>
        <p:nvSpPr>
          <p:cNvPr name="Freeform 14" id="14"/>
          <p:cNvSpPr/>
          <p:nvPr/>
        </p:nvSpPr>
        <p:spPr>
          <a:xfrm flipH="false" flipV="false" rot="0">
            <a:off x="12990631" y="3716203"/>
            <a:ext cx="4449050" cy="6266267"/>
          </a:xfrm>
          <a:custGeom>
            <a:avLst/>
            <a:gdLst/>
            <a:ahLst/>
            <a:cxnLst/>
            <a:rect r="r" b="b" t="t" l="l"/>
            <a:pathLst>
              <a:path h="6266267" w="4449050">
                <a:moveTo>
                  <a:pt x="0" y="0"/>
                </a:moveTo>
                <a:lnTo>
                  <a:pt x="4449050" y="0"/>
                </a:lnTo>
                <a:lnTo>
                  <a:pt x="4449050" y="6266268"/>
                </a:lnTo>
                <a:lnTo>
                  <a:pt x="0" y="62662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480621" y="0"/>
            <a:ext cx="1856794" cy="2154507"/>
          </a:xfrm>
          <a:custGeom>
            <a:avLst/>
            <a:gdLst/>
            <a:ahLst/>
            <a:cxnLst/>
            <a:rect r="r" b="b" t="t" l="l"/>
            <a:pathLst>
              <a:path h="2154507" w="1856794">
                <a:moveTo>
                  <a:pt x="0" y="0"/>
                </a:moveTo>
                <a:lnTo>
                  <a:pt x="1856794" y="0"/>
                </a:lnTo>
                <a:lnTo>
                  <a:pt x="1856794" y="2154507"/>
                </a:lnTo>
                <a:lnTo>
                  <a:pt x="0" y="21545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75815" y="8307976"/>
            <a:ext cx="10607601" cy="167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TEAM 1</a:t>
            </a:r>
          </a:p>
          <a:p>
            <a:pPr algn="l">
              <a:lnSpc>
                <a:spcPts val="3240"/>
              </a:lnSpc>
            </a:pPr>
            <a:r>
              <a:rPr lang="en-US" sz="3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BL.SC.U4AIE24224 - JAYAVEER VENKATA SAI MADDALI</a:t>
            </a:r>
          </a:p>
          <a:p>
            <a:pPr algn="l">
              <a:lnSpc>
                <a:spcPts val="3240"/>
              </a:lnSpc>
            </a:pPr>
            <a:r>
              <a:rPr lang="en-US" sz="3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BL.SC.U4AIE24234 - KRISHNA KARTHIK PATHRI</a:t>
            </a:r>
          </a:p>
          <a:p>
            <a:pPr algn="l">
              <a:lnSpc>
                <a:spcPts val="3240"/>
              </a:lnSpc>
            </a:pPr>
            <a:r>
              <a:rPr lang="en-US" sz="3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BL.SC.U4AIE24201 - A PRANAV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51300"/>
            <a:ext cx="7878755" cy="77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5199" b="true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Table of Contents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4926" y="1663199"/>
            <a:ext cx="9242288" cy="694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6480" indent="-388240" lvl="1">
              <a:lnSpc>
                <a:spcPts val="5035"/>
              </a:lnSpc>
              <a:buFont typeface="Arial"/>
              <a:buChar char="•"/>
            </a:pPr>
            <a:r>
              <a:rPr lang="en-US" sz="359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01 — Abstract</a:t>
            </a:r>
          </a:p>
          <a:p>
            <a:pPr algn="l" marL="776480" indent="-388240" lvl="1">
              <a:lnSpc>
                <a:spcPts val="5035"/>
              </a:lnSpc>
              <a:buFont typeface="Arial"/>
              <a:buChar char="•"/>
            </a:pPr>
            <a:r>
              <a:rPr lang="en-US" sz="359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02 — Introduction</a:t>
            </a:r>
          </a:p>
          <a:p>
            <a:pPr algn="l" marL="776480" indent="-388240" lvl="1">
              <a:lnSpc>
                <a:spcPts val="5035"/>
              </a:lnSpc>
              <a:buFont typeface="Arial"/>
              <a:buChar char="•"/>
            </a:pPr>
            <a:r>
              <a:rPr lang="en-US" sz="359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r>
              <a:rPr lang="en-US" sz="359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— Literature Survey</a:t>
            </a:r>
          </a:p>
          <a:p>
            <a:pPr algn="l" marL="776480" indent="-388240" lvl="1">
              <a:lnSpc>
                <a:spcPts val="5035"/>
              </a:lnSpc>
              <a:buFont typeface="Arial"/>
              <a:buChar char="•"/>
            </a:pPr>
            <a:r>
              <a:rPr lang="en-US" sz="359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04 — Dataset Description</a:t>
            </a:r>
          </a:p>
          <a:p>
            <a:pPr algn="l" marL="776480" indent="-388240" lvl="1">
              <a:lnSpc>
                <a:spcPts val="5035"/>
              </a:lnSpc>
              <a:buFont typeface="Arial"/>
              <a:buChar char="•"/>
            </a:pPr>
            <a:r>
              <a:rPr lang="en-US" sz="359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05 — Methodology</a:t>
            </a:r>
          </a:p>
          <a:p>
            <a:pPr algn="l" marL="776480" indent="-388240" lvl="1">
              <a:lnSpc>
                <a:spcPts val="5035"/>
              </a:lnSpc>
              <a:buFont typeface="Arial"/>
              <a:buChar char="•"/>
            </a:pPr>
            <a:r>
              <a:rPr lang="en-US" sz="359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06 — Model Architecture</a:t>
            </a:r>
          </a:p>
          <a:p>
            <a:pPr algn="l" marL="776480" indent="-388240" lvl="1">
              <a:lnSpc>
                <a:spcPts val="5035"/>
              </a:lnSpc>
              <a:buFont typeface="Arial"/>
              <a:buChar char="•"/>
            </a:pPr>
            <a:r>
              <a:rPr lang="en-US" sz="359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07 — Results &amp; Analysis</a:t>
            </a:r>
          </a:p>
          <a:p>
            <a:pPr algn="l" marL="776480" indent="-388240" lvl="1">
              <a:lnSpc>
                <a:spcPts val="5035"/>
              </a:lnSpc>
              <a:buFont typeface="Arial"/>
              <a:buChar char="•"/>
            </a:pPr>
            <a:r>
              <a:rPr lang="en-US" sz="359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08 — Applications</a:t>
            </a:r>
          </a:p>
          <a:p>
            <a:pPr algn="l" marL="776480" indent="-388240" lvl="1">
              <a:lnSpc>
                <a:spcPts val="5035"/>
              </a:lnSpc>
              <a:buFont typeface="Arial"/>
              <a:buChar char="•"/>
            </a:pPr>
            <a:r>
              <a:rPr lang="en-US" sz="359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09 — Limitations</a:t>
            </a:r>
          </a:p>
          <a:p>
            <a:pPr algn="l" marL="776480" indent="-388240" lvl="1">
              <a:lnSpc>
                <a:spcPts val="5035"/>
              </a:lnSpc>
              <a:buFont typeface="Arial"/>
              <a:buChar char="•"/>
            </a:pPr>
            <a:r>
              <a:rPr lang="en-US" sz="359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10 — Future Work</a:t>
            </a:r>
          </a:p>
          <a:p>
            <a:pPr algn="l" marL="776480" indent="-388240" lvl="1">
              <a:lnSpc>
                <a:spcPts val="5035"/>
              </a:lnSpc>
              <a:buFont typeface="Arial"/>
              <a:buChar char="•"/>
            </a:pPr>
            <a:r>
              <a:rPr lang="en-US" sz="3596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11 — Conclusion</a:t>
            </a:r>
          </a:p>
        </p:txBody>
      </p:sp>
      <p:grpSp>
        <p:nvGrpSpPr>
          <p:cNvPr name="Group 4" id="4"/>
          <p:cNvGrpSpPr/>
          <p:nvPr/>
        </p:nvGrpSpPr>
        <p:grpSpPr>
          <a:xfrm rot="-10800000">
            <a:off x="7812753" y="-2525598"/>
            <a:ext cx="6327942" cy="6327942"/>
            <a:chOff x="0" y="0"/>
            <a:chExt cx="8437256" cy="8437256"/>
          </a:xfrm>
        </p:grpSpPr>
        <p:grpSp>
          <p:nvGrpSpPr>
            <p:cNvPr name="Group 5" id="5"/>
            <p:cNvGrpSpPr/>
            <p:nvPr/>
          </p:nvGrpSpPr>
          <p:grpSpPr>
            <a:xfrm rot="-6701284">
              <a:off x="970439" y="970439"/>
              <a:ext cx="6496379" cy="6496379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970439" y="970439"/>
              <a:ext cx="6496379" cy="6496379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14726234" y="283359"/>
            <a:ext cx="1685028" cy="1685028"/>
            <a:chOff x="0" y="0"/>
            <a:chExt cx="2246704" cy="2246704"/>
          </a:xfrm>
        </p:grpSpPr>
        <p:grpSp>
          <p:nvGrpSpPr>
            <p:cNvPr name="Group 12" id="12"/>
            <p:cNvGrpSpPr/>
            <p:nvPr/>
          </p:nvGrpSpPr>
          <p:grpSpPr>
            <a:xfrm rot="-6701284">
              <a:off x="258412" y="258412"/>
              <a:ext cx="1729880" cy="172988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58412" y="258412"/>
              <a:ext cx="1729880" cy="172988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4926" y="351300"/>
            <a:ext cx="7878755" cy="77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15"/>
              </a:lnSpc>
              <a:spcBef>
                <a:spcPct val="0"/>
              </a:spcBef>
            </a:pPr>
            <a:r>
              <a:rPr lang="en-US" b="true" sz="5199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Abstract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4926" y="1449403"/>
            <a:ext cx="14378169" cy="830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Signal peptides are short amino acid sequences responsible for directing proteins toward secretion pathways and cellular localization.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This work proposes a hybrid deep learning framework integrating: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      1.</a:t>
            </a: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BioBERT embeddings (768-D)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      2.</a:t>
            </a: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Physicochemical protein features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      3.</a:t>
            </a: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CNN–BiLSTM–Attention architecture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Dataset: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      1930</a:t>
            </a: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protein sequences collected from UniProtKB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bjective: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      </a:t>
            </a: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Predict whether proteins contain signal peptides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esults: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     </a:t>
            </a: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Mean AUC-ROC ≈ 0.7938+-0.1092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Main Fin</a:t>
            </a: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ding: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     </a:t>
            </a: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Architecture choice significantly affects biological embedding performance.</a:t>
            </a:r>
          </a:p>
          <a:p>
            <a:pPr algn="l">
              <a:lnSpc>
                <a:spcPts val="349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-10800000">
            <a:off x="7812753" y="-2525598"/>
            <a:ext cx="6327942" cy="6327942"/>
            <a:chOff x="0" y="0"/>
            <a:chExt cx="8437256" cy="8437256"/>
          </a:xfrm>
        </p:grpSpPr>
        <p:grpSp>
          <p:nvGrpSpPr>
            <p:cNvPr name="Group 5" id="5"/>
            <p:cNvGrpSpPr/>
            <p:nvPr/>
          </p:nvGrpSpPr>
          <p:grpSpPr>
            <a:xfrm rot="-6701284">
              <a:off x="970439" y="970439"/>
              <a:ext cx="6496379" cy="6496379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970439" y="970439"/>
              <a:ext cx="6496379" cy="6496379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14726234" y="283359"/>
            <a:ext cx="1685028" cy="1685028"/>
            <a:chOff x="0" y="0"/>
            <a:chExt cx="2246704" cy="2246704"/>
          </a:xfrm>
        </p:grpSpPr>
        <p:grpSp>
          <p:nvGrpSpPr>
            <p:cNvPr name="Group 12" id="12"/>
            <p:cNvGrpSpPr/>
            <p:nvPr/>
          </p:nvGrpSpPr>
          <p:grpSpPr>
            <a:xfrm rot="-6701284">
              <a:off x="258412" y="258412"/>
              <a:ext cx="1729880" cy="1729880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58412" y="258412"/>
              <a:ext cx="1729880" cy="172988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</p:spTree>
  </p:cSld>
  <p:clrMapOvr>
    <a:masterClrMapping/>
  </p:clrMapOvr>
  <p:transition spd="slow">
    <p:cover dir="r"/>
  </p:transition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756183" y="646176"/>
            <a:ext cx="7900650" cy="77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15"/>
              </a:lnSpc>
              <a:spcBef>
                <a:spcPct val="0"/>
              </a:spcBef>
            </a:pPr>
            <a:r>
              <a:rPr lang="en-US" b="true" sz="5199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97604" y="1799519"/>
            <a:ext cx="12130560" cy="495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Sign</a:t>
            </a: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al peptides are short amino acid sequences found at the N-terminal of proteins.</a:t>
            </a:r>
          </a:p>
          <a:p>
            <a:pPr algn="l" marL="647697" indent="-323848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They play an important role in protein secretion and localization.</a:t>
            </a:r>
          </a:p>
          <a:p>
            <a:pPr algn="l" marL="647697" indent="-323848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Traditional Experimental identification is slow, expensive and labor intensive.</a:t>
            </a:r>
          </a:p>
          <a:p>
            <a:pPr algn="l" marL="647697" indent="-323848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Deep learning provides automated prediction using protein sequences.</a:t>
            </a:r>
          </a:p>
          <a:p>
            <a:pPr algn="l" marL="647697" indent="-323848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Proposed approach integrates:</a:t>
            </a:r>
          </a:p>
          <a:p>
            <a:pPr algn="l">
              <a:lnSpc>
                <a:spcPts val="3239"/>
              </a:lnSpc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     1. BioBERT sequence embeddings</a:t>
            </a:r>
          </a:p>
          <a:p>
            <a:pPr algn="l">
              <a:lnSpc>
                <a:spcPts val="3239"/>
              </a:lnSpc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    2. </a:t>
            </a: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Physicochemical properties</a:t>
            </a:r>
          </a:p>
          <a:p>
            <a:pPr algn="l">
              <a:lnSpc>
                <a:spcPts val="3239"/>
              </a:lnSpc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    3. </a:t>
            </a: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CNN-BiLSTM-Attention model</a:t>
            </a:r>
          </a:p>
        </p:txBody>
      </p:sp>
      <p:grpSp>
        <p:nvGrpSpPr>
          <p:cNvPr name="Group 4" id="4"/>
          <p:cNvGrpSpPr/>
          <p:nvPr/>
        </p:nvGrpSpPr>
        <p:grpSpPr>
          <a:xfrm rot="-10800000">
            <a:off x="5796792" y="-4825015"/>
            <a:ext cx="18876502" cy="15349503"/>
            <a:chOff x="0" y="0"/>
            <a:chExt cx="25168670" cy="20466004"/>
          </a:xfrm>
        </p:grpSpPr>
        <p:grpSp>
          <p:nvGrpSpPr>
            <p:cNvPr name="Group 5" id="5"/>
            <p:cNvGrpSpPr/>
            <p:nvPr/>
          </p:nvGrpSpPr>
          <p:grpSpPr>
            <a:xfrm rot="-6701284">
              <a:off x="2353964" y="2353964"/>
              <a:ext cx="15758076" cy="15758076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353964" y="2353964"/>
              <a:ext cx="15758076" cy="15758076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-6701284">
              <a:off x="23463075" y="3803950"/>
              <a:ext cx="1483924" cy="1483924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3463075" y="3803950"/>
              <a:ext cx="1483924" cy="1483924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2300547">
              <a:off x="12184449" y="481699"/>
              <a:ext cx="1483924" cy="1483924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9001832">
              <a:off x="12184449" y="481699"/>
              <a:ext cx="1483924" cy="1483924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5796792" y="-4825015"/>
            <a:ext cx="18876502" cy="15349503"/>
            <a:chOff x="0" y="0"/>
            <a:chExt cx="25168670" cy="20466004"/>
          </a:xfrm>
        </p:grpSpPr>
        <p:grpSp>
          <p:nvGrpSpPr>
            <p:cNvPr name="Group 3" id="3"/>
            <p:cNvGrpSpPr/>
            <p:nvPr/>
          </p:nvGrpSpPr>
          <p:grpSpPr>
            <a:xfrm rot="-6701284">
              <a:off x="2353964" y="2353964"/>
              <a:ext cx="15758076" cy="1575807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53964" y="2353964"/>
              <a:ext cx="15758076" cy="1575807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6701284">
              <a:off x="23463075" y="3803950"/>
              <a:ext cx="1483924" cy="1483924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3463075" y="3803950"/>
              <a:ext cx="1483924" cy="148392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2300547">
              <a:off x="12184449" y="481699"/>
              <a:ext cx="1483924" cy="1483924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9001832">
              <a:off x="12184449" y="481699"/>
              <a:ext cx="1483924" cy="1483924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0" y="418154"/>
            <a:ext cx="7900650" cy="77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15"/>
              </a:lnSpc>
              <a:spcBef>
                <a:spcPct val="0"/>
              </a:spcBef>
            </a:pPr>
            <a:r>
              <a:rPr lang="en-US" b="true" sz="5199" strike="noStrike" u="non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Literature Survey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1422589"/>
            <a:ext cx="15246518" cy="986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Existing Models</a:t>
            </a:r>
          </a:p>
          <a:p>
            <a:pPr algn="l" marL="647697" indent="-323848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DeepSig – Used CNNs for signal peptide prediction and improved sequence modelling.</a:t>
            </a:r>
          </a:p>
          <a:p>
            <a:pPr algn="l" marL="647697" indent="-323848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SignalP 5.0 – Deep neural network-based prediction and improved prediction accuracy.</a:t>
            </a:r>
          </a:p>
          <a:p>
            <a:pPr algn="l" marL="647697" indent="-323848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SignalP 6.0 – Used protein language models for improved accuracy.</a:t>
            </a:r>
          </a:p>
          <a:p>
            <a:pPr algn="l" marL="647697" indent="-323848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USPNet – Organism-independent prediction using PLMs with better generalization.</a:t>
            </a:r>
          </a:p>
          <a:p>
            <a:pPr algn="l" marL="647697" indent="-323848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TSignal – Transformer-based architecture with attention based learning.</a:t>
            </a:r>
          </a:p>
          <a:p>
            <a:pPr algn="l">
              <a:lnSpc>
                <a:spcPts val="3239"/>
              </a:lnSpc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Key Observation</a:t>
            </a:r>
          </a:p>
          <a:p>
            <a:pPr algn="l" marL="647697" indent="-323848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Recent models combine:</a:t>
            </a:r>
          </a:p>
          <a:p>
            <a:pPr algn="l" marL="1295394" indent="-431798" lvl="2">
              <a:lnSpc>
                <a:spcPts val="3239"/>
              </a:lnSpc>
              <a:buFont typeface="Arial"/>
              <a:buChar char="⚬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Deep sequence embeddings</a:t>
            </a:r>
          </a:p>
          <a:p>
            <a:pPr algn="l" marL="1295394" indent="-431798" lvl="2">
              <a:lnSpc>
                <a:spcPts val="3239"/>
              </a:lnSpc>
              <a:buFont typeface="Arial"/>
              <a:buChar char="⚬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Attention mechanisms</a:t>
            </a:r>
          </a:p>
          <a:p>
            <a:pPr algn="l" marL="1295394" indent="-431798" lvl="2">
              <a:lnSpc>
                <a:spcPts val="3239"/>
              </a:lnSpc>
              <a:buFont typeface="Arial"/>
              <a:buChar char="⚬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Physicochemical information</a:t>
            </a:r>
          </a:p>
          <a:p>
            <a:pPr algn="l">
              <a:lnSpc>
                <a:spcPts val="3239"/>
              </a:lnSpc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Research Gap</a:t>
            </a:r>
          </a:p>
          <a:p>
            <a:pPr algn="l" marL="647697" indent="-323848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Existing models increasingly preserve sequence context.</a:t>
            </a:r>
          </a:p>
          <a:p>
            <a:pPr algn="l" marL="647697" indent="-323848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Need for better integration of:</a:t>
            </a:r>
          </a:p>
          <a:p>
            <a:pPr algn="l" marL="1295394" indent="-431798" lvl="2">
              <a:lnSpc>
                <a:spcPts val="3239"/>
              </a:lnSpc>
              <a:buFont typeface="Arial"/>
              <a:buChar char="⚬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Protein embeddings</a:t>
            </a:r>
          </a:p>
          <a:p>
            <a:pPr algn="l" marL="1295394" indent="-431798" lvl="2">
              <a:lnSpc>
                <a:spcPts val="3239"/>
              </a:lnSpc>
              <a:buFont typeface="Arial"/>
              <a:buChar char="⚬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Physicochemical properties</a:t>
            </a:r>
          </a:p>
          <a:p>
            <a:pPr algn="l" marL="1295394" indent="-431798" lvl="2">
              <a:lnSpc>
                <a:spcPts val="3239"/>
              </a:lnSpc>
              <a:buFont typeface="Arial"/>
              <a:buChar char="⚬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Context-aware architectures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</p:txBody>
      </p:sp>
    </p:spTree>
  </p:cSld>
  <p:clrMapOvr>
    <a:masterClrMapping/>
  </p:clrMapOvr>
  <p:transition spd="slow">
    <p:cover dir="d"/>
  </p:transition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5796792" y="-4825015"/>
            <a:ext cx="18876502" cy="15349503"/>
            <a:chOff x="0" y="0"/>
            <a:chExt cx="25168670" cy="20466004"/>
          </a:xfrm>
        </p:grpSpPr>
        <p:grpSp>
          <p:nvGrpSpPr>
            <p:cNvPr name="Group 3" id="3"/>
            <p:cNvGrpSpPr/>
            <p:nvPr/>
          </p:nvGrpSpPr>
          <p:grpSpPr>
            <a:xfrm rot="-6701284">
              <a:off x="2353964" y="2353964"/>
              <a:ext cx="15758076" cy="1575807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53964" y="2353964"/>
              <a:ext cx="15758076" cy="1575807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6701284">
              <a:off x="23463075" y="3803950"/>
              <a:ext cx="1483924" cy="1483924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3463075" y="3803950"/>
              <a:ext cx="1483924" cy="148392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2300547">
              <a:off x="12184449" y="481699"/>
              <a:ext cx="1483924" cy="1483924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9001832">
              <a:off x="12184449" y="481699"/>
              <a:ext cx="1483924" cy="1483924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0" y="418154"/>
            <a:ext cx="7900650" cy="77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15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Description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1709028"/>
            <a:ext cx="15246518" cy="945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Data Source : UniProtKB</a:t>
            </a:r>
          </a:p>
          <a:p>
            <a:pPr algn="l" marL="647697" indent="-323848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Positive Class: Proteins containing signal peptides</a:t>
            </a:r>
          </a:p>
          <a:p>
            <a:pPr algn="l" marL="647697" indent="-323848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Negative Class: Proteins without signal peptides (Cytoplasmic proteins)</a:t>
            </a:r>
          </a:p>
          <a:p>
            <a:pPr algn="l" marL="647697" indent="-323848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Dataset Size</a:t>
            </a:r>
          </a:p>
          <a:p>
            <a:pPr algn="l" marL="647697" indent="-323848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Total sequences: 1930 proteins (980 signal + 950 non-signal)</a:t>
            </a:r>
          </a:p>
          <a:p>
            <a:pPr algn="l" marL="647697" indent="-323848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Extracted Features</a:t>
            </a:r>
          </a:p>
          <a:p>
            <a:pPr algn="l" marL="1295394" indent="-647697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Sequence Features:</a:t>
            </a:r>
          </a:p>
          <a:p>
            <a:pPr algn="l" marL="1943090" indent="-485773" lvl="3">
              <a:lnSpc>
                <a:spcPts val="3239"/>
              </a:lnSpc>
              <a:buFont typeface="Arial"/>
              <a:buChar char="￭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BioBERT embeddings</a:t>
            </a:r>
          </a:p>
          <a:p>
            <a:pPr algn="l" marL="1943090" indent="-485773" lvl="3">
              <a:lnSpc>
                <a:spcPts val="3239"/>
              </a:lnSpc>
              <a:buFont typeface="Arial"/>
              <a:buChar char="￭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Amino acid representation</a:t>
            </a:r>
          </a:p>
          <a:p>
            <a:pPr algn="l" marL="1295394" indent="-647697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Physicochemical Features:</a:t>
            </a:r>
          </a:p>
          <a:p>
            <a:pPr algn="l" marL="1943090" indent="-485773" lvl="3">
              <a:lnSpc>
                <a:spcPts val="3239"/>
              </a:lnSpc>
              <a:buFont typeface="Arial"/>
              <a:buChar char="￭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Molecular weight</a:t>
            </a:r>
          </a:p>
          <a:p>
            <a:pPr algn="l" marL="1943090" indent="-485773" lvl="3">
              <a:lnSpc>
                <a:spcPts val="3239"/>
              </a:lnSpc>
              <a:buFont typeface="Arial"/>
              <a:buChar char="￭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Hydrophobicity</a:t>
            </a:r>
          </a:p>
          <a:p>
            <a:pPr algn="l" marL="1943090" indent="-485773" lvl="3">
              <a:lnSpc>
                <a:spcPts val="3239"/>
              </a:lnSpc>
              <a:buFont typeface="Arial"/>
              <a:buChar char="￭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Aromaticity</a:t>
            </a:r>
          </a:p>
          <a:p>
            <a:pPr algn="l" marL="1943090" indent="-485773" lvl="3">
              <a:lnSpc>
                <a:spcPts val="3239"/>
              </a:lnSpc>
              <a:buFont typeface="Arial"/>
              <a:buChar char="￭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Instability index</a:t>
            </a:r>
          </a:p>
          <a:p>
            <a:pPr algn="l" marL="1943090" indent="-485773" lvl="3">
              <a:lnSpc>
                <a:spcPts val="3239"/>
              </a:lnSpc>
              <a:buFont typeface="Arial"/>
              <a:buChar char="￭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Isoelectric point</a:t>
            </a:r>
          </a:p>
          <a:p>
            <a:pPr algn="l" marL="1943090" indent="-485773" lvl="3">
              <a:lnSpc>
                <a:spcPts val="3239"/>
              </a:lnSpc>
              <a:buFont typeface="Arial"/>
              <a:buChar char="￭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Aliphatic index</a:t>
            </a:r>
          </a:p>
          <a:p>
            <a:pPr algn="l" marL="647697" indent="-323848" lvl="1">
              <a:lnSpc>
                <a:spcPts val="3239"/>
              </a:lnSpc>
              <a:buFont typeface="Arial"/>
              <a:buChar char="•"/>
            </a:pPr>
            <a:r>
              <a:rPr lang="en-US" sz="2999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Final Representation: 768-D embeddings and 6 physicochemical features = 774-dimensional feature vector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4722903" y="-8301138"/>
            <a:ext cx="18876502" cy="15349503"/>
            <a:chOff x="0" y="0"/>
            <a:chExt cx="25168670" cy="20466004"/>
          </a:xfrm>
        </p:grpSpPr>
        <p:grpSp>
          <p:nvGrpSpPr>
            <p:cNvPr name="Group 3" id="3"/>
            <p:cNvGrpSpPr/>
            <p:nvPr/>
          </p:nvGrpSpPr>
          <p:grpSpPr>
            <a:xfrm rot="-6701284">
              <a:off x="2353964" y="2353964"/>
              <a:ext cx="15758076" cy="1575807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53964" y="2353964"/>
              <a:ext cx="15758076" cy="1575807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6701284">
              <a:off x="23463075" y="3803950"/>
              <a:ext cx="1483924" cy="1483924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3463075" y="3803950"/>
              <a:ext cx="1483924" cy="148392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2300547">
              <a:off x="12184449" y="481699"/>
              <a:ext cx="1483924" cy="1483924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9001832">
              <a:off x="12184449" y="481699"/>
              <a:ext cx="1483924" cy="1483924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sp>
        <p:nvSpPr>
          <p:cNvPr name="Freeform 21" id="21"/>
          <p:cNvSpPr/>
          <p:nvPr/>
        </p:nvSpPr>
        <p:spPr>
          <a:xfrm flipH="false" flipV="false" rot="0">
            <a:off x="9786959" y="1028700"/>
            <a:ext cx="7720874" cy="8248897"/>
          </a:xfrm>
          <a:custGeom>
            <a:avLst/>
            <a:gdLst/>
            <a:ahLst/>
            <a:cxnLst/>
            <a:rect r="r" b="b" t="t" l="l"/>
            <a:pathLst>
              <a:path h="8248897" w="7720874">
                <a:moveTo>
                  <a:pt x="0" y="0"/>
                </a:moveTo>
                <a:lnTo>
                  <a:pt x="7720874" y="0"/>
                </a:lnTo>
                <a:lnTo>
                  <a:pt x="7720874" y="8248897"/>
                </a:lnTo>
                <a:lnTo>
                  <a:pt x="0" y="82488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45908" y="376582"/>
            <a:ext cx="8798092" cy="77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5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0615" y="2042247"/>
            <a:ext cx="6857081" cy="3567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621" indent="-313311" lvl="1">
              <a:lnSpc>
                <a:spcPts val="3134"/>
              </a:lnSpc>
              <a:spcBef>
                <a:spcPct val="0"/>
              </a:spcBef>
              <a:buFont typeface="Arial"/>
              <a:buChar char="•"/>
            </a:pPr>
            <a:r>
              <a:rPr lang="en-US" sz="29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</a:t>
            </a:r>
            <a:r>
              <a:rPr lang="en-US" sz="29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coll</a:t>
            </a:r>
            <a:r>
              <a:rPr lang="en-US" sz="29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ected from UniProtKB REST API.</a:t>
            </a:r>
          </a:p>
          <a:p>
            <a:pPr algn="l" marL="626621" indent="-313311" lvl="1">
              <a:lnSpc>
                <a:spcPts val="3134"/>
              </a:lnSpc>
              <a:spcBef>
                <a:spcPct val="0"/>
              </a:spcBef>
              <a:buFont typeface="Arial"/>
              <a:buChar char="•"/>
            </a:pPr>
            <a:r>
              <a:rPr lang="en-US" sz="29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Positive class: Sig</a:t>
            </a:r>
            <a:r>
              <a:rPr lang="en-US" sz="29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nal p</a:t>
            </a:r>
            <a:r>
              <a:rPr lang="en-US" sz="29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eptide proteins</a:t>
            </a:r>
          </a:p>
          <a:p>
            <a:pPr algn="l" marL="626621" indent="-313311" lvl="1">
              <a:lnSpc>
                <a:spcPts val="3134"/>
              </a:lnSpc>
              <a:spcBef>
                <a:spcPct val="0"/>
              </a:spcBef>
              <a:buFont typeface="Arial"/>
              <a:buChar char="•"/>
            </a:pPr>
            <a:r>
              <a:rPr lang="en-US" sz="29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Negative cl</a:t>
            </a:r>
            <a:r>
              <a:rPr lang="en-US" sz="29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ass: Cytopl</a:t>
            </a:r>
            <a:r>
              <a:rPr lang="en-US" sz="29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asmic proteins without signal peptides</a:t>
            </a:r>
          </a:p>
          <a:p>
            <a:pPr algn="l" marL="626621" indent="-313311" lvl="1">
              <a:lnSpc>
                <a:spcPts val="3134"/>
              </a:lnSpc>
              <a:spcBef>
                <a:spcPct val="0"/>
              </a:spcBef>
              <a:buFont typeface="Arial"/>
              <a:buChar char="•"/>
            </a:pPr>
            <a:r>
              <a:rPr lang="en-US" sz="29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</a:t>
            </a:r>
            <a:r>
              <a:rPr lang="en-US" sz="29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 balanced dataset has 1930 sequences</a:t>
            </a:r>
          </a:p>
          <a:p>
            <a:pPr algn="l">
              <a:lnSpc>
                <a:spcPts val="287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over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8528143" y="-8301138"/>
            <a:ext cx="32127548" cy="23794074"/>
            <a:chOff x="0" y="0"/>
            <a:chExt cx="42836730" cy="31725432"/>
          </a:xfrm>
        </p:grpSpPr>
        <p:grpSp>
          <p:nvGrpSpPr>
            <p:cNvPr name="Group 3" id="3"/>
            <p:cNvGrpSpPr/>
            <p:nvPr/>
          </p:nvGrpSpPr>
          <p:grpSpPr>
            <a:xfrm rot="-6701284">
              <a:off x="2353964" y="13613392"/>
              <a:ext cx="15758076" cy="1575807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53964" y="13613392"/>
              <a:ext cx="15758076" cy="1575807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6701284">
              <a:off x="24724690" y="2353964"/>
              <a:ext cx="15758076" cy="15758076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4724690" y="2353964"/>
              <a:ext cx="15758076" cy="15758076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-6701284">
              <a:off x="23463075" y="15063378"/>
              <a:ext cx="1483924" cy="1483924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3463075" y="15063378"/>
              <a:ext cx="1483924" cy="1483924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2300547">
              <a:off x="12184449" y="11741127"/>
              <a:ext cx="1483924" cy="1483924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9001832">
              <a:off x="12184449" y="11741127"/>
              <a:ext cx="1483924" cy="1483924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sp>
        <p:nvSpPr>
          <p:cNvPr name="Freeform 27" id="27"/>
          <p:cNvSpPr/>
          <p:nvPr/>
        </p:nvSpPr>
        <p:spPr>
          <a:xfrm flipH="false" flipV="false" rot="0">
            <a:off x="1394744" y="1214596"/>
            <a:ext cx="5749115" cy="8375121"/>
          </a:xfrm>
          <a:custGeom>
            <a:avLst/>
            <a:gdLst/>
            <a:ahLst/>
            <a:cxnLst/>
            <a:rect r="r" b="b" t="t" l="l"/>
            <a:pathLst>
              <a:path h="8375121" w="5749115">
                <a:moveTo>
                  <a:pt x="0" y="0"/>
                </a:moveTo>
                <a:lnTo>
                  <a:pt x="5749115" y="0"/>
                </a:lnTo>
                <a:lnTo>
                  <a:pt x="5749115" y="8375120"/>
                </a:lnTo>
                <a:lnTo>
                  <a:pt x="0" y="8375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0" y="357390"/>
            <a:ext cx="8798092" cy="77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5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Model Architecture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63915" y="2390308"/>
            <a:ext cx="8198423" cy="604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0"/>
              </a:lnSpc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CNN Lay</a:t>
            </a: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</a:t>
            </a:r>
          </a:p>
          <a:p>
            <a:pPr algn="l" marL="637719" indent="-318859" lvl="1">
              <a:lnSpc>
                <a:spcPts val="3190"/>
              </a:lnSpc>
              <a:spcBef>
                <a:spcPct val="0"/>
              </a:spcBef>
              <a:buFont typeface="Arial"/>
              <a:buChar char="•"/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1D convol</a:t>
            </a: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ution with ReLU and MaxPooling.</a:t>
            </a:r>
          </a:p>
          <a:p>
            <a:pPr algn="l">
              <a:lnSpc>
                <a:spcPts val="3190"/>
              </a:lnSpc>
              <a:spcBef>
                <a:spcPct val="0"/>
              </a:spcBef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BiLSTM Layer</a:t>
            </a:r>
          </a:p>
          <a:p>
            <a:pPr algn="l" marL="637719" indent="-318859" lvl="1">
              <a:lnSpc>
                <a:spcPts val="3190"/>
              </a:lnSpc>
              <a:spcBef>
                <a:spcPct val="0"/>
              </a:spcBef>
              <a:buFont typeface="Arial"/>
              <a:buChar char="•"/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Captures bidirectional sequence dependencies.</a:t>
            </a:r>
          </a:p>
          <a:p>
            <a:pPr algn="l">
              <a:lnSpc>
                <a:spcPts val="3190"/>
              </a:lnSpc>
              <a:spcBef>
                <a:spcPct val="0"/>
              </a:spcBef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</a:t>
            </a: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ention Layer</a:t>
            </a:r>
          </a:p>
          <a:p>
            <a:pPr algn="l" marL="637719" indent="-318859" lvl="1">
              <a:lnSpc>
                <a:spcPts val="3190"/>
              </a:lnSpc>
              <a:spcBef>
                <a:spcPct val="0"/>
              </a:spcBef>
              <a:buFont typeface="Arial"/>
              <a:buChar char="•"/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Highlights import</a:t>
            </a: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ant t</a:t>
            </a: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emporal features.</a:t>
            </a:r>
          </a:p>
          <a:p>
            <a:pPr algn="l">
              <a:lnSpc>
                <a:spcPts val="3190"/>
              </a:lnSpc>
              <a:spcBef>
                <a:spcPct val="0"/>
              </a:spcBef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 Layer</a:t>
            </a:r>
          </a:p>
          <a:p>
            <a:pPr algn="l" marL="637719" indent="-318859" lvl="1">
              <a:lnSpc>
                <a:spcPts val="3190"/>
              </a:lnSpc>
              <a:spcBef>
                <a:spcPct val="0"/>
              </a:spcBef>
              <a:buFont typeface="Arial"/>
              <a:buChar char="•"/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Fully connected layer with Sigmoid</a:t>
            </a: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activation.</a:t>
            </a:r>
          </a:p>
          <a:p>
            <a:pPr algn="l" marL="637719" indent="-318859" lvl="1">
              <a:lnSpc>
                <a:spcPts val="3190"/>
              </a:lnSpc>
              <a:spcBef>
                <a:spcPct val="0"/>
              </a:spcBef>
              <a:buFont typeface="Arial"/>
              <a:buChar char="•"/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Predicts:</a:t>
            </a:r>
          </a:p>
          <a:p>
            <a:pPr algn="l" marL="1275438" indent="-425146" lvl="2">
              <a:lnSpc>
                <a:spcPts val="3190"/>
              </a:lnSpc>
              <a:spcBef>
                <a:spcPct val="0"/>
              </a:spcBef>
              <a:buFont typeface="Arial"/>
              <a:buChar char="⚬"/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Sign</a:t>
            </a: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 peptide</a:t>
            </a:r>
          </a:p>
          <a:p>
            <a:pPr algn="l" marL="1275438" indent="-425146" lvl="2">
              <a:lnSpc>
                <a:spcPts val="3190"/>
              </a:lnSpc>
              <a:spcBef>
                <a:spcPct val="0"/>
              </a:spcBef>
              <a:buFont typeface="Arial"/>
              <a:buChar char="⚬"/>
            </a:pPr>
            <a:r>
              <a:rPr lang="en-US" sz="29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Non-signal peptide</a:t>
            </a:r>
          </a:p>
          <a:p>
            <a:pPr algn="l">
              <a:lnSpc>
                <a:spcPts val="29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4722903" y="-8301138"/>
            <a:ext cx="18876502" cy="15349503"/>
            <a:chOff x="0" y="0"/>
            <a:chExt cx="25168670" cy="20466004"/>
          </a:xfrm>
        </p:grpSpPr>
        <p:grpSp>
          <p:nvGrpSpPr>
            <p:cNvPr name="Group 3" id="3"/>
            <p:cNvGrpSpPr/>
            <p:nvPr/>
          </p:nvGrpSpPr>
          <p:grpSpPr>
            <a:xfrm rot="-6701284">
              <a:off x="2353964" y="2353964"/>
              <a:ext cx="15758076" cy="1575807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53964" y="2353964"/>
              <a:ext cx="15758076" cy="1575807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6701284">
              <a:off x="23463075" y="3803950"/>
              <a:ext cx="1483924" cy="1483924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2300547">
              <a:off x="12184449" y="481699"/>
              <a:ext cx="1483924" cy="148392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4112607" y="7798726"/>
            <a:ext cx="9579830" cy="1872545"/>
          </a:xfrm>
          <a:custGeom>
            <a:avLst/>
            <a:gdLst/>
            <a:ahLst/>
            <a:cxnLst/>
            <a:rect r="r" b="b" t="t" l="l"/>
            <a:pathLst>
              <a:path h="1872545" w="9579830">
                <a:moveTo>
                  <a:pt x="0" y="0"/>
                </a:moveTo>
                <a:lnTo>
                  <a:pt x="9579831" y="0"/>
                </a:lnTo>
                <a:lnTo>
                  <a:pt x="9579831" y="1872545"/>
                </a:lnTo>
                <a:lnTo>
                  <a:pt x="0" y="1872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34040" y="3146122"/>
            <a:ext cx="8497950" cy="4201659"/>
          </a:xfrm>
          <a:custGeom>
            <a:avLst/>
            <a:gdLst/>
            <a:ahLst/>
            <a:cxnLst/>
            <a:rect r="r" b="b" t="t" l="l"/>
            <a:pathLst>
              <a:path h="4201659" w="8497950">
                <a:moveTo>
                  <a:pt x="0" y="0"/>
                </a:moveTo>
                <a:lnTo>
                  <a:pt x="8497951" y="0"/>
                </a:lnTo>
                <a:lnTo>
                  <a:pt x="8497951" y="4201659"/>
                </a:lnTo>
                <a:lnTo>
                  <a:pt x="0" y="4201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627874" y="3035630"/>
            <a:ext cx="8129127" cy="4312151"/>
          </a:xfrm>
          <a:custGeom>
            <a:avLst/>
            <a:gdLst/>
            <a:ahLst/>
            <a:cxnLst/>
            <a:rect r="r" b="b" t="t" l="l"/>
            <a:pathLst>
              <a:path h="4312151" w="8129127">
                <a:moveTo>
                  <a:pt x="0" y="0"/>
                </a:moveTo>
                <a:lnTo>
                  <a:pt x="8129127" y="0"/>
                </a:lnTo>
                <a:lnTo>
                  <a:pt x="8129127" y="4312151"/>
                </a:lnTo>
                <a:lnTo>
                  <a:pt x="0" y="43121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-286439" y="646176"/>
            <a:ext cx="8798092" cy="77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5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  <a:r>
              <a:rPr lang="en-US" b="true" sz="5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&amp; Analysis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4722903" y="-8301138"/>
            <a:ext cx="18876502" cy="15349503"/>
            <a:chOff x="0" y="0"/>
            <a:chExt cx="25168670" cy="20466004"/>
          </a:xfrm>
        </p:grpSpPr>
        <p:grpSp>
          <p:nvGrpSpPr>
            <p:cNvPr name="Group 3" id="3"/>
            <p:cNvGrpSpPr/>
            <p:nvPr/>
          </p:nvGrpSpPr>
          <p:grpSpPr>
            <a:xfrm rot="-6701284">
              <a:off x="2353964" y="2353964"/>
              <a:ext cx="15758076" cy="1575807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53964" y="2353964"/>
              <a:ext cx="15758076" cy="1575807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6701284">
              <a:off x="23463075" y="3803950"/>
              <a:ext cx="1483924" cy="1483924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2300547">
              <a:off x="12184449" y="481699"/>
              <a:ext cx="1483924" cy="148392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192330" y="2782500"/>
            <a:ext cx="9703283" cy="5484464"/>
          </a:xfrm>
          <a:custGeom>
            <a:avLst/>
            <a:gdLst/>
            <a:ahLst/>
            <a:cxnLst/>
            <a:rect r="r" b="b" t="t" l="l"/>
            <a:pathLst>
              <a:path h="5484464" w="9703283">
                <a:moveTo>
                  <a:pt x="0" y="0"/>
                </a:moveTo>
                <a:lnTo>
                  <a:pt x="9703282" y="0"/>
                </a:lnTo>
                <a:lnTo>
                  <a:pt x="9703282" y="5484464"/>
                </a:lnTo>
                <a:lnTo>
                  <a:pt x="0" y="5484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90030" y="2660981"/>
            <a:ext cx="6896379" cy="5727501"/>
          </a:xfrm>
          <a:custGeom>
            <a:avLst/>
            <a:gdLst/>
            <a:ahLst/>
            <a:cxnLst/>
            <a:rect r="r" b="b" t="t" l="l"/>
            <a:pathLst>
              <a:path h="5727501" w="6896379">
                <a:moveTo>
                  <a:pt x="0" y="0"/>
                </a:moveTo>
                <a:lnTo>
                  <a:pt x="6896379" y="0"/>
                </a:lnTo>
                <a:lnTo>
                  <a:pt x="6896379" y="5727501"/>
                </a:lnTo>
                <a:lnTo>
                  <a:pt x="0" y="57275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-260827" y="646176"/>
            <a:ext cx="8798092" cy="77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5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  <a:r>
              <a:rPr lang="en-US" b="true" sz="5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&amp; Analysis</a:t>
            </a:r>
          </a:p>
        </p:txBody>
      </p:sp>
    </p:spTree>
  </p:cSld>
  <p:clrMapOvr>
    <a:masterClrMapping/>
  </p:clrMapOvr>
  <p:transition spd="slow">
    <p:cover dir="l"/>
  </p:transition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6507635" y="-9028251"/>
            <a:ext cx="18876502" cy="15349503"/>
            <a:chOff x="0" y="0"/>
            <a:chExt cx="25168670" cy="20466004"/>
          </a:xfrm>
        </p:grpSpPr>
        <p:grpSp>
          <p:nvGrpSpPr>
            <p:cNvPr name="Group 3" id="3"/>
            <p:cNvGrpSpPr/>
            <p:nvPr/>
          </p:nvGrpSpPr>
          <p:grpSpPr>
            <a:xfrm rot="-6701284">
              <a:off x="2353964" y="2353964"/>
              <a:ext cx="15758076" cy="1575807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53964" y="2353964"/>
              <a:ext cx="15758076" cy="1575807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6701284">
              <a:off x="23463075" y="3803950"/>
              <a:ext cx="1483924" cy="1483924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2300547">
              <a:off x="12184449" y="481699"/>
              <a:ext cx="1483924" cy="148392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-3271995" y="849088"/>
            <a:ext cx="12984502" cy="77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5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7229" y="2390073"/>
            <a:ext cx="13128399" cy="523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8672" indent="-324336" lvl="1">
              <a:lnSpc>
                <a:spcPts val="3244"/>
              </a:lnSpc>
              <a:buFont typeface="Arial"/>
              <a:buChar char="•"/>
            </a:pP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Protein Engineering</a:t>
            </a:r>
          </a:p>
          <a:p>
            <a:pPr algn="l" marL="1297343" indent="-432448" lvl="2">
              <a:lnSpc>
                <a:spcPts val="3244"/>
              </a:lnSpc>
              <a:buFont typeface="Arial"/>
              <a:buChar char="⚬"/>
            </a:pP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Helps design proteins with improved secretion efficiency for industrial enzymes, vaccines, and therapeutic proteins.</a:t>
            </a:r>
          </a:p>
          <a:p>
            <a:pPr algn="l" marL="648672" indent="-324336" lvl="1">
              <a:lnSpc>
                <a:spcPts val="3244"/>
              </a:lnSpc>
              <a:buFont typeface="Arial"/>
              <a:buChar char="•"/>
            </a:pP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Drug Discovery &amp; Pharmaceuticals</a:t>
            </a:r>
          </a:p>
          <a:p>
            <a:pPr algn="l" marL="1297343" indent="-432448" lvl="2">
              <a:lnSpc>
                <a:spcPts val="3244"/>
              </a:lnSpc>
              <a:buFont typeface="Arial"/>
              <a:buChar char="⚬"/>
            </a:pP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Supports identification of secretory proteins useful in developing protein-</a:t>
            </a: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based </a:t>
            </a: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drugs and targeted therapies.</a:t>
            </a:r>
          </a:p>
          <a:p>
            <a:pPr algn="l" marL="648672" indent="-324336" lvl="1">
              <a:lnSpc>
                <a:spcPts val="3244"/>
              </a:lnSpc>
              <a:buFont typeface="Arial"/>
              <a:buChar char="•"/>
            </a:pP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Protein Function Prediction</a:t>
            </a:r>
          </a:p>
          <a:p>
            <a:pPr algn="l" marL="1297343" indent="-432448" lvl="2">
              <a:lnSpc>
                <a:spcPts val="3244"/>
              </a:lnSpc>
              <a:buFont typeface="Arial"/>
              <a:buChar char="⚬"/>
            </a:pP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Assists researchers in determining the localization and biological role of newly discovered proteins.</a:t>
            </a:r>
          </a:p>
          <a:p>
            <a:pPr algn="l" marL="648672" indent="-324336" lvl="1">
              <a:lnSpc>
                <a:spcPts val="3244"/>
              </a:lnSpc>
              <a:buFont typeface="Arial"/>
              <a:buChar char="•"/>
            </a:pP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Biotechnology &amp; Synthetic Biology</a:t>
            </a:r>
          </a:p>
          <a:p>
            <a:pPr algn="l" marL="1297343" indent="-432448" lvl="2">
              <a:lnSpc>
                <a:spcPts val="3244"/>
              </a:lnSpc>
              <a:buFont typeface="Arial"/>
              <a:buChar char="⚬"/>
            </a:pP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Improves engineered organisms and protein production systems used in industrial and biological applications.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cover dir="l"/>
  </p:transition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4722903" y="-8301138"/>
            <a:ext cx="18876502" cy="15349503"/>
            <a:chOff x="0" y="0"/>
            <a:chExt cx="25168670" cy="20466004"/>
          </a:xfrm>
        </p:grpSpPr>
        <p:grpSp>
          <p:nvGrpSpPr>
            <p:cNvPr name="Group 3" id="3"/>
            <p:cNvGrpSpPr/>
            <p:nvPr/>
          </p:nvGrpSpPr>
          <p:grpSpPr>
            <a:xfrm rot="-6701284">
              <a:off x="2353964" y="2353964"/>
              <a:ext cx="15758076" cy="1575807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53964" y="2353964"/>
              <a:ext cx="15758076" cy="1575807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6701284">
              <a:off x="23463075" y="3803950"/>
              <a:ext cx="1483924" cy="1483924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2300547">
              <a:off x="12184449" y="481699"/>
              <a:ext cx="1483924" cy="148392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413866" y="1894493"/>
            <a:ext cx="15669655" cy="763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8672" indent="-324336" lvl="1">
              <a:lnSpc>
                <a:spcPts val="3244"/>
              </a:lnSpc>
              <a:buFont typeface="Arial"/>
              <a:buChar char="•"/>
            </a:pP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Small</a:t>
            </a: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Dataset Only 1,930 sequences compared to millions used by SignalP and DeepSig. </a:t>
            </a:r>
          </a:p>
          <a:p>
            <a:pPr algn="l">
              <a:lnSpc>
                <a:spcPts val="3244"/>
              </a:lnSpc>
            </a:pPr>
          </a:p>
          <a:p>
            <a:pPr algn="l" marL="648672" indent="-324336" lvl="1">
              <a:lnSpc>
                <a:spcPts val="3244"/>
              </a:lnSpc>
              <a:buFont typeface="Arial"/>
              <a:buChar char="•"/>
            </a:pP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Short Sequence Bias Model misclassifies short cytoplas</a:t>
            </a: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mic proteins like KRAS (41 residues). Train</a:t>
            </a: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 data didn't have enough short non-signal sequences to learn this boundary</a:t>
            </a:r>
          </a:p>
          <a:p>
            <a:pPr algn="l">
              <a:lnSpc>
                <a:spcPts val="3244"/>
              </a:lnSpc>
            </a:pPr>
          </a:p>
          <a:p>
            <a:pPr algn="l" marL="648672" indent="-324336" lvl="1">
              <a:lnSpc>
                <a:spcPts val="3244"/>
              </a:lnSpc>
              <a:buFont typeface="Arial"/>
              <a:buChar char="•"/>
            </a:pP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Binary Classification Only Model only says signal or non-signal — it can't tell you where the cleavage site is, which is important for actual biological use.</a:t>
            </a:r>
          </a:p>
          <a:p>
            <a:pPr algn="l">
              <a:lnSpc>
                <a:spcPts val="3244"/>
              </a:lnSpc>
            </a:pPr>
          </a:p>
          <a:p>
            <a:pPr algn="l" marL="648672" indent="-324336" lvl="1">
              <a:lnSpc>
                <a:spcPts val="3244"/>
              </a:lnSpc>
              <a:buFont typeface="Arial"/>
              <a:buChar char="•"/>
            </a:pP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BioBER</a:t>
            </a: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 Not Protein-Specific BioBERT was trained on biomedical text and PubMed papers, not protein sequences. It understands biology but not protein biochemistry as deeply as protein-specific models.</a:t>
            </a:r>
          </a:p>
          <a:p>
            <a:pPr algn="l">
              <a:lnSpc>
                <a:spcPts val="3244"/>
              </a:lnSpc>
            </a:pPr>
          </a:p>
          <a:p>
            <a:pPr algn="l" marL="648672" indent="-324336" lvl="1">
              <a:lnSpc>
                <a:spcPts val="3244"/>
              </a:lnSpc>
              <a:buFont typeface="Arial"/>
              <a:buChar char="•"/>
            </a:pP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Single Organism Bias Dataset pulled from UniProt reviewed entries which skews toward well-studied organisms (human, mouse, E. coli). Model may perform poorly on exotic organisms or metagenomic sequence</a:t>
            </a:r>
          </a:p>
          <a:p>
            <a:pPr algn="l">
              <a:lnSpc>
                <a:spcPts val="3244"/>
              </a:lnSpc>
            </a:pP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-2303074" y="254127"/>
            <a:ext cx="12984502" cy="77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5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Limitations</a:t>
            </a:r>
          </a:p>
        </p:txBody>
      </p:sp>
    </p:spTree>
  </p:cSld>
  <p:clrMapOvr>
    <a:masterClrMapping/>
  </p:clrMapOvr>
  <p:transition spd="slow">
    <p:cover dir="l"/>
  </p:transition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4722903" y="-8301138"/>
            <a:ext cx="18876502" cy="15349503"/>
            <a:chOff x="0" y="0"/>
            <a:chExt cx="25168670" cy="20466004"/>
          </a:xfrm>
        </p:grpSpPr>
        <p:grpSp>
          <p:nvGrpSpPr>
            <p:cNvPr name="Group 3" id="3"/>
            <p:cNvGrpSpPr/>
            <p:nvPr/>
          </p:nvGrpSpPr>
          <p:grpSpPr>
            <a:xfrm rot="-6701284">
              <a:off x="2353964" y="2353964"/>
              <a:ext cx="15758076" cy="1575807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53964" y="2353964"/>
              <a:ext cx="15758076" cy="1575807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-6701284">
              <a:off x="23463075" y="3803950"/>
              <a:ext cx="1483924" cy="1483924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2300547">
              <a:off x="12184449" y="481699"/>
              <a:ext cx="1483924" cy="148392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1309172" y="2306648"/>
            <a:ext cx="15669655" cy="2836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</a:p>
          <a:p>
            <a:pPr algn="l" marL="648672" indent="-324336" lvl="1">
              <a:lnSpc>
                <a:spcPts val="3244"/>
              </a:lnSpc>
              <a:buFont typeface="Arial"/>
              <a:buChar char="•"/>
            </a:pP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ESM-2 Instead of BioBERT Replace BioBERT with Meta's ESM-2 — trained purely on 250 million</a:t>
            </a: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protein sequences. </a:t>
            </a:r>
          </a:p>
          <a:p>
            <a:pPr algn="l" marL="648672" indent="-324336" lvl="1">
              <a:lnSpc>
                <a:spcPts val="3244"/>
              </a:lnSpc>
              <a:buFont typeface="Arial"/>
              <a:buChar char="•"/>
            </a:pP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Exp</a:t>
            </a:r>
            <a:r>
              <a:rPr lang="en-US" sz="30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Dataset to 5,000+ Sequences Fetch more sequences from UniProt across eukaryotes, gram-positive and gram-negative bacteria to improve generalizability across diverse organisms.</a:t>
            </a:r>
          </a:p>
          <a:p>
            <a:pPr algn="l">
              <a:lnSpc>
                <a:spcPts val="3244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-2369642" y="831603"/>
            <a:ext cx="12984502" cy="77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5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Works</a:t>
            </a:r>
          </a:p>
        </p:txBody>
      </p:sp>
    </p:spTree>
  </p:cSld>
  <p:clrMapOvr>
    <a:masterClrMapping/>
  </p:clrMapOvr>
  <p:transition spd="slow">
    <p:cover dir="l"/>
  </p:transition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8249902" y="-8301138"/>
            <a:ext cx="15349503" cy="15349503"/>
            <a:chOff x="0" y="0"/>
            <a:chExt cx="20466004" cy="20466004"/>
          </a:xfrm>
        </p:grpSpPr>
        <p:grpSp>
          <p:nvGrpSpPr>
            <p:cNvPr name="Group 3" id="3"/>
            <p:cNvGrpSpPr/>
            <p:nvPr/>
          </p:nvGrpSpPr>
          <p:grpSpPr>
            <a:xfrm rot="-6701284">
              <a:off x="2353964" y="2353964"/>
              <a:ext cx="15758076" cy="15758076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353964" y="2353964"/>
              <a:ext cx="15758076" cy="15758076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2300547">
              <a:off x="12184449" y="481699"/>
              <a:ext cx="1483924" cy="1483924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gradFill>
                  <a:gsLst>
                    <a:gs pos="0">
                      <a:srgbClr val="2ABACA">
                        <a:alpha val="10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700000"/>
                </a:gra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9001832">
              <a:off x="12184449" y="481699"/>
              <a:ext cx="1483924" cy="148392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ABACA">
                      <a:alpha val="3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7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4784" lIns="4784" bIns="4784" rIns="4784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-2045368" y="1426733"/>
            <a:ext cx="11189368" cy="77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5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233928"/>
            <a:ext cx="10723644" cy="2980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9" indent="-334645" lvl="1">
              <a:lnSpc>
                <a:spcPts val="3347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Developed hybrid deep learning framework</a:t>
            </a:r>
          </a:p>
          <a:p>
            <a:pPr algn="l" marL="669289" indent="-334645" lvl="1">
              <a:lnSpc>
                <a:spcPts val="3347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Combined Bi</a:t>
            </a: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oBERT embeddings with physicochemical properties</a:t>
            </a:r>
          </a:p>
          <a:p>
            <a:pPr algn="l" marL="669289" indent="-334645" lvl="1">
              <a:lnSpc>
                <a:spcPts val="3347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Dataset preparation successful</a:t>
            </a:r>
          </a:p>
          <a:p>
            <a:pPr algn="l" marL="669289" indent="-334645" lvl="1">
              <a:lnSpc>
                <a:spcPts val="3347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Architecture mismatch red</a:t>
            </a: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uc</a:t>
            </a: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 performance</a:t>
            </a:r>
          </a:p>
          <a:p>
            <a:pPr algn="l" marL="669289" indent="-334645" lvl="1">
              <a:lnSpc>
                <a:spcPts val="3347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Sequence-preserving models may improve prediction</a:t>
            </a:r>
          </a:p>
        </p:txBody>
      </p:sp>
    </p:spTree>
  </p:cSld>
  <p:clrMapOvr>
    <a:masterClrMapping/>
  </p:clrMapOvr>
  <p:transition spd="slow">
    <p:cover dir="l"/>
  </p:transition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38225"/>
            <a:ext cx="8360284" cy="77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5"/>
              </a:lnSpc>
            </a:pPr>
            <a:r>
              <a:rPr lang="en-US" sz="5199" b="true">
                <a:solidFill>
                  <a:srgbClr val="2D2D2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3546" y="2056215"/>
            <a:ext cx="16077062" cy="6616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[1] Savojardo, C., Martelli, P. L., Far</a:t>
            </a:r>
            <a:r>
              <a:rPr lang="en-US" sz="23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iselli, P., &amp; Casadio, R. (2018). DeepSig: Deep learning improves signal peptide detection in proteins. Bioinformatics, 34(10), 1690–1696.</a:t>
            </a:r>
          </a:p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[2] Armenteros, J. J. A., Tsirigos, K. D., Sønderby, C. K., Petersen, T.N., Winther, O., Brunak, S., ... &amp; Nielsen, H. (2019). SignalP 5.0 improves signal peptide predictions using deep neural networks. NatureBiotechnology, 37(4), 420–423.</a:t>
            </a:r>
          </a:p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[3] Zhang, W., Pan, X., &amp; Shen, H. (2020). Signal-3L 3.0: Improving signal peptide prediction through combining attention deep learning with window-based scoring. Journal of Chemical Information and Modeling, 60(7), 3679–3686.</a:t>
            </a:r>
          </a:p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[4] Teufel, F., Armenteros, J. J. A., Johansen, A. R., G´ıslason, M. H., Pihl, S. I., Tsirigos, K. D., ... &amp; Nielsen, H. (2022). SignalP 6.0 predicts all five types of signal peptides using protein language models. Nature Biotechnology, 40(7), 1023–1025.</a:t>
            </a:r>
          </a:p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[5] Shen, J., Yu, Q., Chen, S., Tan, Q., Li, J., &amp; Li, Y. (2023). USPNet: Unbiased organism-agnostic and highly sensitive signal peptide predictor with deep protein language model. Nature Computational Science.</a:t>
            </a:r>
          </a:p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[6] Dumitrescu, A., Jokinen, E., Kellosalo, J., Paavilainen, V. O., &amp;L¨ahdesm¨aki, H. (2022). TSignal: A transformer model for signal peptide prediction. Bioinformatics, 39(Supplement 1), i347–i356.</a:t>
            </a:r>
          </a:p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[7] Zeng, S., Wang, D., Li, J., &amp; Xu, D. (2024). Parameter-efficient fine-tuning on large protein language models improves signal peptide prediction. Genome Research, gr.279132.124. </a:t>
            </a:r>
          </a:p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[</a:t>
            </a:r>
            <a:r>
              <a:rPr lang="en-US" sz="23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8] Rij, T. V., &amp; Mian, M. A. (2023). Signal peptide efficiency: From high- throughput data to prediction and explanation. ACS Synthetic Biology, 2(2), 390–404.</a:t>
            </a:r>
          </a:p>
          <a:p>
            <a:pPr algn="l">
              <a:lnSpc>
                <a:spcPts val="2484"/>
              </a:lnSpc>
            </a:pPr>
            <a:r>
              <a:rPr lang="en-US" sz="2300">
                <a:solidFill>
                  <a:srgbClr val="2D2D2D"/>
                </a:solidFill>
                <a:latin typeface="Poppins"/>
                <a:ea typeface="Poppins"/>
                <a:cs typeface="Poppins"/>
                <a:sym typeface="Poppins"/>
              </a:rPr>
              <a:t>[9] Dai, X., Meng, X., Zhou, Y., Li, Z., Ji, Y., Schwaneberg, U., &amp; Li, Z. (2025). De novo design of high-performance sec-type signal peptide via a hybrid deep learning architecture. JACS Au.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" r="0" b="-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044823"/>
            <a:ext cx="10028303" cy="2394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72"/>
              </a:lnSpc>
            </a:pPr>
            <a:r>
              <a:rPr lang="en-US" sz="8400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Thank You for your Attention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865968" y="-720869"/>
            <a:ext cx="3086100" cy="30861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8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283415" y="2819743"/>
            <a:ext cx="470916" cy="47091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3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86374" y="2459319"/>
            <a:ext cx="12952708" cy="12952708"/>
            <a:chOff x="0" y="0"/>
            <a:chExt cx="17270277" cy="17270277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7270277" cy="17270277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0"/>
              <a:ext cx="17270277" cy="17270277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>
                  <a:alpha val="29804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sp>
        <p:nvSpPr>
          <p:cNvPr name="Freeform 17" id="17"/>
          <p:cNvSpPr/>
          <p:nvPr/>
        </p:nvSpPr>
        <p:spPr>
          <a:xfrm flipH="false" flipV="false" rot="1374794">
            <a:off x="13768812" y="3345106"/>
            <a:ext cx="2758343" cy="6262185"/>
          </a:xfrm>
          <a:custGeom>
            <a:avLst/>
            <a:gdLst/>
            <a:ahLst/>
            <a:cxnLst/>
            <a:rect r="r" b="b" t="t" l="l"/>
            <a:pathLst>
              <a:path h="6262185" w="2758343">
                <a:moveTo>
                  <a:pt x="0" y="0"/>
                </a:moveTo>
                <a:lnTo>
                  <a:pt x="2758343" y="0"/>
                </a:lnTo>
                <a:lnTo>
                  <a:pt x="2758343" y="6262185"/>
                </a:lnTo>
                <a:lnTo>
                  <a:pt x="0" y="62621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3001276">
            <a:off x="12243015" y="-116668"/>
            <a:ext cx="2176199" cy="2290736"/>
          </a:xfrm>
          <a:prstGeom prst="rect">
            <a:avLst/>
          </a:prstGeom>
        </p:spPr>
      </p:pic>
    </p:spTree>
  </p:cSld>
  <p:clrMapOvr>
    <a:masterClrMapping/>
  </p:clrMapOvr>
  <p:transition spd="slow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DAG1pd49rUk</dc:identifier>
  <dcterms:modified xsi:type="dcterms:W3CDTF">2011-08-01T06:04:30Z</dcterms:modified>
  <cp:revision>1</cp:revision>
  <dc:title>Blue and White Modern Technology Biotech Business Presentation</dc:title>
</cp:coreProperties>
</file>